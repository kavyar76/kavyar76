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Times New Roman MT" charset="1" panose="02030502070405020303"/>
      <p:regular r:id="rId23"/>
    </p:embeddedFont>
    <p:embeddedFont>
      <p:font typeface="Times New Roman MT Bold" charset="1" panose="02030802070405020303"/>
      <p:regular r:id="rId24"/>
    </p:embeddedFont>
    <p:embeddedFont>
      <p:font typeface="Times New Roman MT Ultra-Bold" charset="1" panose="02030902070405020303"/>
      <p:regular r:id="rId25"/>
    </p:embeddedFont>
    <p:embeddedFont>
      <p:font typeface="Times New Roman MT Semi-Bold" charset="1" panose="020307020704050203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72136" y="2590600"/>
            <a:ext cx="10715059" cy="389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 spc="-859">
                <a:solidFill>
                  <a:srgbClr val="EEEEE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ZOMATO  </a:t>
            </a:r>
          </a:p>
          <a:p>
            <a:pPr algn="ctr">
              <a:lnSpc>
                <a:spcPts val="9599"/>
              </a:lnSpc>
            </a:pPr>
            <a:r>
              <a:rPr lang="en-US" sz="9999" spc="-859">
                <a:solidFill>
                  <a:srgbClr val="EEEEE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RESTAURANT </a:t>
            </a:r>
          </a:p>
          <a:p>
            <a:pPr algn="ctr">
              <a:lnSpc>
                <a:spcPts val="9599"/>
              </a:lnSpc>
            </a:pPr>
            <a:r>
              <a:rPr lang="en-US" sz="9999" spc="-859">
                <a:solidFill>
                  <a:srgbClr val="EEEEE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ANALYSIS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11167" y="1396553"/>
            <a:ext cx="5949992" cy="7436745"/>
          </a:xfrm>
          <a:custGeom>
            <a:avLst/>
            <a:gdLst/>
            <a:ahLst/>
            <a:cxnLst/>
            <a:rect r="r" b="b" t="t" l="l"/>
            <a:pathLst>
              <a:path h="7436745" w="5949992">
                <a:moveTo>
                  <a:pt x="0" y="0"/>
                </a:moveTo>
                <a:lnTo>
                  <a:pt x="5949991" y="0"/>
                </a:lnTo>
                <a:lnTo>
                  <a:pt x="5949991" y="7436744"/>
                </a:lnTo>
                <a:lnTo>
                  <a:pt x="0" y="7436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55" t="-3474" r="0" b="-347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19143" y="8451345"/>
            <a:ext cx="5080313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0F0F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-KAVYA 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36083" y="6476799"/>
            <a:ext cx="9987164" cy="951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9"/>
              </a:lnSpc>
            </a:pPr>
            <a:r>
              <a:rPr lang="en-US" b="true" sz="340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Leveraging Analytics to Drive Market Expansion </a:t>
            </a:r>
          </a:p>
          <a:p>
            <a:pPr algn="ctr">
              <a:lnSpc>
                <a:spcPts val="3409"/>
              </a:lnSpc>
            </a:pPr>
            <a:r>
              <a:rPr lang="en-US" b="true" sz="340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and Customer Satisfaction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8D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7759" y="2918746"/>
            <a:ext cx="9605906" cy="190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b="true" sz="14000" spc="-1204">
                <a:solidFill>
                  <a:srgbClr val="161616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TABLE OF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9096" y="4683184"/>
            <a:ext cx="8772525" cy="190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b="true" sz="14000" spc="-1204">
                <a:solidFill>
                  <a:srgbClr val="161616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CONTENT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80544" y="1325482"/>
            <a:ext cx="8726379" cy="823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2512" indent="-416256" lvl="1">
              <a:lnSpc>
                <a:spcPts val="5398"/>
              </a:lnSpc>
              <a:buFont typeface="Arial"/>
              <a:buChar char="•"/>
            </a:pPr>
            <a:r>
              <a:rPr lang="en-US" b="true" sz="3856" spc="-16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</a:t>
            </a:r>
          </a:p>
          <a:p>
            <a:pPr algn="l" marL="832512" indent="-416256" lvl="1">
              <a:lnSpc>
                <a:spcPts val="5398"/>
              </a:lnSpc>
              <a:buFont typeface="Arial"/>
              <a:buChar char="•"/>
            </a:pPr>
            <a:r>
              <a:rPr lang="en-US" b="true" sz="3856" spc="-16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PROJECT BACKGROUND &amp; BUSINESS OBJECTIVES</a:t>
            </a:r>
          </a:p>
          <a:p>
            <a:pPr algn="l" marL="832512" indent="-416256" lvl="1">
              <a:lnSpc>
                <a:spcPts val="5398"/>
              </a:lnSpc>
              <a:buFont typeface="Arial"/>
              <a:buChar char="•"/>
            </a:pPr>
            <a:r>
              <a:rPr lang="en-US" b="true" sz="3856" spc="-16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REQUIREMENTS &amp; UNDERSTANDING </a:t>
            </a:r>
          </a:p>
          <a:p>
            <a:pPr algn="l" marL="832512" indent="-416256" lvl="1">
              <a:lnSpc>
                <a:spcPts val="5398"/>
              </a:lnSpc>
              <a:buFont typeface="Arial"/>
              <a:buChar char="•"/>
            </a:pPr>
            <a:r>
              <a:rPr lang="en-US" b="true" sz="3856" spc="-16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METHODOLOGY </a:t>
            </a:r>
          </a:p>
          <a:p>
            <a:pPr algn="l" marL="832512" indent="-416256" lvl="1">
              <a:lnSpc>
                <a:spcPts val="5398"/>
              </a:lnSpc>
              <a:buFont typeface="Arial"/>
              <a:buChar char="•"/>
            </a:pPr>
            <a:r>
              <a:rPr lang="en-US" b="true" sz="3856" spc="-16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FINDINGS &amp; DATA-DRIVEN INSIGHTS</a:t>
            </a:r>
          </a:p>
          <a:p>
            <a:pPr algn="l" marL="832512" indent="-416256" lvl="1">
              <a:lnSpc>
                <a:spcPts val="5398"/>
              </a:lnSpc>
              <a:buFont typeface="Arial"/>
              <a:buChar char="•"/>
            </a:pPr>
            <a:r>
              <a:rPr lang="en-US" b="true" sz="3856" spc="-16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DASHBOARD</a:t>
            </a:r>
          </a:p>
          <a:p>
            <a:pPr algn="l" marL="832512" indent="-416256" lvl="1">
              <a:lnSpc>
                <a:spcPts val="5398"/>
              </a:lnSpc>
              <a:buFont typeface="Arial"/>
              <a:buChar char="•"/>
            </a:pPr>
            <a:r>
              <a:rPr lang="en-US" b="true" sz="3856" spc="-16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RECOMMENDATIONS </a:t>
            </a:r>
          </a:p>
          <a:p>
            <a:pPr algn="l" marL="832512" indent="-416256" lvl="1">
              <a:lnSpc>
                <a:spcPts val="5398"/>
              </a:lnSpc>
              <a:buFont typeface="Arial"/>
              <a:buChar char="•"/>
            </a:pPr>
            <a:r>
              <a:rPr lang="en-US" b="true" sz="3856" spc="-16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 &amp; NEXT STEPS</a:t>
            </a:r>
          </a:p>
          <a:p>
            <a:pPr algn="l">
              <a:lnSpc>
                <a:spcPts val="539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74384" y="873251"/>
            <a:ext cx="10295572" cy="124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b="true" sz="9000" spc="-774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7613" y="2127374"/>
            <a:ext cx="10620821" cy="6433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8072" indent="-389036" lvl="1">
              <a:lnSpc>
                <a:spcPts val="5045"/>
              </a:lnSpc>
              <a:buFont typeface="Arial"/>
              <a:buChar char="•"/>
            </a:pPr>
            <a:r>
              <a:rPr lang="en-US" b="true" sz="3603" spc="-72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Zomato is a global platform for restaurant</a:t>
            </a:r>
          </a:p>
          <a:p>
            <a:pPr algn="just">
              <a:lnSpc>
                <a:spcPts val="5045"/>
              </a:lnSpc>
            </a:pPr>
            <a:r>
              <a:rPr lang="en-US" b="true" sz="3603" spc="-72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discovery and food delivery.</a:t>
            </a:r>
          </a:p>
          <a:p>
            <a:pPr algn="just" marL="778072" indent="-389036" lvl="1">
              <a:lnSpc>
                <a:spcPts val="5045"/>
              </a:lnSpc>
              <a:buFont typeface="Arial"/>
              <a:buChar char="•"/>
            </a:pPr>
            <a:r>
              <a:rPr lang="en-US" b="true" sz="3603" spc="-72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It offers restaurant listings, customer reviews, </a:t>
            </a:r>
          </a:p>
          <a:p>
            <a:pPr algn="just">
              <a:lnSpc>
                <a:spcPts val="5045"/>
              </a:lnSpc>
            </a:pPr>
            <a:r>
              <a:rPr lang="en-US" b="true" sz="3603" spc="-72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and online ordering.</a:t>
            </a:r>
          </a:p>
          <a:p>
            <a:pPr algn="just" marL="778072" indent="-389036" lvl="1">
              <a:lnSpc>
                <a:spcPts val="5045"/>
              </a:lnSpc>
              <a:buFont typeface="Arial"/>
              <a:buChar char="•"/>
            </a:pPr>
            <a:r>
              <a:rPr lang="en-US" b="true" sz="3603" spc="-72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Uses data analytics to enhance customer experience </a:t>
            </a:r>
          </a:p>
          <a:p>
            <a:pPr algn="just">
              <a:lnSpc>
                <a:spcPts val="5045"/>
              </a:lnSpc>
            </a:pPr>
            <a:r>
              <a:rPr lang="en-US" b="true" sz="3603" spc="-72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and business decisions.</a:t>
            </a:r>
          </a:p>
          <a:p>
            <a:pPr algn="just" marL="778072" indent="-389036" lvl="1">
              <a:lnSpc>
                <a:spcPts val="5045"/>
              </a:lnSpc>
              <a:buFont typeface="Arial"/>
              <a:buChar char="•"/>
            </a:pPr>
            <a:r>
              <a:rPr lang="en-US" b="true" sz="3603" spc="-72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Sales analysis identifies trends based on location, </a:t>
            </a:r>
          </a:p>
          <a:p>
            <a:pPr algn="just">
              <a:lnSpc>
                <a:spcPts val="5045"/>
              </a:lnSpc>
            </a:pPr>
            <a:r>
              <a:rPr lang="en-US" b="true" sz="3603" spc="-72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pricing, and demand.</a:t>
            </a:r>
          </a:p>
          <a:p>
            <a:pPr algn="just" marL="778072" indent="-389036" lvl="1">
              <a:lnSpc>
                <a:spcPts val="5045"/>
              </a:lnSpc>
              <a:buFont typeface="Arial"/>
              <a:buChar char="•"/>
            </a:pPr>
            <a:r>
              <a:rPr lang="en-US" b="true" sz="3603" spc="-72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Evaluates the impact of online delivery, table bookings,</a:t>
            </a:r>
          </a:p>
          <a:p>
            <a:pPr algn="just">
              <a:lnSpc>
                <a:spcPts val="5045"/>
              </a:lnSpc>
            </a:pPr>
            <a:r>
              <a:rPr lang="en-US" b="true" sz="3603" spc="-72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and customer preferences.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455380" y="2572240"/>
            <a:ext cx="5142521" cy="5142521"/>
          </a:xfrm>
          <a:custGeom>
            <a:avLst/>
            <a:gdLst/>
            <a:ahLst/>
            <a:cxnLst/>
            <a:rect r="r" b="b" t="t" l="l"/>
            <a:pathLst>
              <a:path h="5142521" w="5142521">
                <a:moveTo>
                  <a:pt x="0" y="0"/>
                </a:moveTo>
                <a:lnTo>
                  <a:pt x="5142521" y="0"/>
                </a:lnTo>
                <a:lnTo>
                  <a:pt x="5142521" y="5142520"/>
                </a:lnTo>
                <a:lnTo>
                  <a:pt x="0" y="5142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92980" y="2660871"/>
            <a:ext cx="5495020" cy="5805223"/>
          </a:xfrm>
          <a:custGeom>
            <a:avLst/>
            <a:gdLst/>
            <a:ahLst/>
            <a:cxnLst/>
            <a:rect r="r" b="b" t="t" l="l"/>
            <a:pathLst>
              <a:path h="5805223" w="5495020">
                <a:moveTo>
                  <a:pt x="0" y="0"/>
                </a:moveTo>
                <a:lnTo>
                  <a:pt x="5495020" y="0"/>
                </a:lnTo>
                <a:lnTo>
                  <a:pt x="5495020" y="5805223"/>
                </a:lnTo>
                <a:lnTo>
                  <a:pt x="0" y="5805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290120"/>
            <a:ext cx="13405770" cy="799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3775" indent="-371887" lvl="1">
              <a:lnSpc>
                <a:spcPts val="4822"/>
              </a:lnSpc>
              <a:buFont typeface="Arial"/>
              <a:buChar char="•"/>
            </a:pPr>
            <a:r>
              <a:rPr lang="en-US" b="true" sz="3444" spc="-68">
                <a:solidFill>
                  <a:srgbClr val="161616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Company:</a:t>
            </a: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Zomato - A global restaurant discovery </a:t>
            </a:r>
          </a:p>
          <a:p>
            <a:pPr algn="l">
              <a:lnSpc>
                <a:spcPts val="4822"/>
              </a:lnSpc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</a:t>
            </a: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and food delivery platform.</a:t>
            </a:r>
          </a:p>
          <a:p>
            <a:pPr algn="l" marL="743775" indent="-371887" lvl="1">
              <a:lnSpc>
                <a:spcPts val="4822"/>
              </a:lnSpc>
              <a:buFont typeface="Arial"/>
              <a:buChar char="•"/>
            </a:pPr>
            <a:r>
              <a:rPr lang="en-US" b="true" sz="3444" spc="-68">
                <a:solidFill>
                  <a:srgbClr val="161616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Business Problem:</a:t>
            </a: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company needs to identify </a:t>
            </a:r>
          </a:p>
          <a:p>
            <a:pPr algn="l">
              <a:lnSpc>
                <a:spcPts val="4822"/>
              </a:lnSpc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</a:t>
            </a: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new growth opportunities and improve customer retention </a:t>
            </a:r>
          </a:p>
          <a:p>
            <a:pPr algn="l">
              <a:lnSpc>
                <a:spcPts val="4822"/>
              </a:lnSpc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</a:t>
            </a: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 a competitive market.</a:t>
            </a:r>
          </a:p>
          <a:p>
            <a:pPr algn="l" marL="743775" indent="-371887" lvl="1">
              <a:lnSpc>
                <a:spcPts val="4822"/>
              </a:lnSpc>
              <a:buFont typeface="Arial"/>
              <a:buChar char="•"/>
            </a:pPr>
            <a:r>
              <a:rPr lang="en-US" b="true" sz="3444" spc="-68">
                <a:solidFill>
                  <a:srgbClr val="161616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Business Requirements :</a:t>
            </a:r>
          </a:p>
          <a:p>
            <a:pPr algn="l" marL="743775" indent="-371887" lvl="1">
              <a:lnSpc>
                <a:spcPts val="4822"/>
              </a:lnSpc>
              <a:buFont typeface="Arial"/>
              <a:buChar char="•"/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"We want to expand into new, high-potential markets."</a:t>
            </a:r>
          </a:p>
          <a:p>
            <a:pPr algn="l" marL="743775" indent="-371887" lvl="1">
              <a:lnSpc>
                <a:spcPts val="4822"/>
              </a:lnSpc>
              <a:buFont typeface="Arial"/>
              <a:buChar char="•"/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"We need to understand what drives customer satisfaction to improve our platform's offerings."</a:t>
            </a:r>
          </a:p>
          <a:p>
            <a:pPr algn="l" marL="743775" indent="-371887" lvl="1">
              <a:lnSpc>
                <a:spcPts val="4822"/>
              </a:lnSpc>
              <a:buFont typeface="Arial"/>
              <a:buChar char="•"/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"We must optimize our services (delivery, booking) to increase engagement."</a:t>
            </a:r>
          </a:p>
          <a:p>
            <a:pPr algn="l">
              <a:lnSpc>
                <a:spcPts val="4822"/>
              </a:lnSpc>
            </a:pPr>
          </a:p>
          <a:p>
            <a:pPr algn="l">
              <a:lnSpc>
                <a:spcPts val="482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74154" y="790575"/>
            <a:ext cx="17539692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 spc="-516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PROJECT BACKGROUND &amp; BUSINESS PROBLEM</a:t>
            </a:r>
          </a:p>
        </p:txBody>
      </p:sp>
    </p:spTree>
  </p:cSld>
  <p:clrMapOvr>
    <a:masterClrMapping/>
  </p:clrMapOvr>
  <p:transition spd="slow">
    <p:push dir="r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76559" y="1692775"/>
            <a:ext cx="15213842" cy="6200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29"/>
              </a:lnSpc>
            </a:pPr>
            <a:r>
              <a:rPr lang="en-US" sz="3164" b="true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      Objective:</a:t>
            </a:r>
            <a:r>
              <a:rPr lang="en-US" sz="316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To source and prepare a dataset that allows for market and </a:t>
            </a:r>
          </a:p>
          <a:p>
            <a:pPr algn="just">
              <a:lnSpc>
                <a:spcPts val="4429"/>
              </a:lnSpc>
            </a:pPr>
            <a:r>
              <a:rPr lang="en-US" sz="316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</a:t>
            </a:r>
            <a:r>
              <a:rPr lang="en-US" sz="316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customer behavior analysis.</a:t>
            </a:r>
          </a:p>
          <a:p>
            <a:pPr algn="just">
              <a:lnSpc>
                <a:spcPts val="4429"/>
              </a:lnSpc>
            </a:pPr>
            <a:r>
              <a:rPr lang="en-US" sz="3164" b="true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       </a:t>
            </a:r>
            <a:r>
              <a:rPr lang="en-US" sz="3164" b="true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Dataset Overview (The "What"):</a:t>
            </a:r>
          </a:p>
          <a:p>
            <a:pPr algn="just" marL="683130" indent="-341565" lvl="1">
              <a:lnSpc>
                <a:spcPts val="4429"/>
              </a:lnSpc>
              <a:buFont typeface="Arial"/>
              <a:buChar char="•"/>
            </a:pPr>
            <a:r>
              <a:rPr lang="en-US" b="true" sz="3164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Scope:</a:t>
            </a:r>
            <a:r>
              <a:rPr lang="en-US" sz="316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9,043 restaurants across 15 countries.</a:t>
            </a:r>
          </a:p>
          <a:p>
            <a:pPr algn="just">
              <a:lnSpc>
                <a:spcPts val="4429"/>
              </a:lnSpc>
            </a:pPr>
            <a:r>
              <a:rPr lang="en-US" sz="3164" b="true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       </a:t>
            </a:r>
            <a:r>
              <a:rPr lang="en-US" sz="3164" b="true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Key Attributes (The "How"):</a:t>
            </a:r>
          </a:p>
          <a:p>
            <a:pPr algn="just" marL="683130" indent="-341565" lvl="1">
              <a:lnSpc>
                <a:spcPts val="4429"/>
              </a:lnSpc>
              <a:buFont typeface="Arial"/>
              <a:buChar char="•"/>
            </a:pPr>
            <a:r>
              <a:rPr lang="en-US" b="true" sz="3164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Business Data:</a:t>
            </a:r>
            <a:r>
              <a:rPr lang="en-US" sz="316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Location, Cuisine, Price for two.</a:t>
            </a:r>
          </a:p>
          <a:p>
            <a:pPr algn="just" marL="683130" indent="-341565" lvl="1">
              <a:lnSpc>
                <a:spcPts val="4429"/>
              </a:lnSpc>
              <a:buFont typeface="Arial"/>
              <a:buChar char="•"/>
            </a:pPr>
            <a:r>
              <a:rPr lang="en-US" b="true" sz="3164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Operational Features:</a:t>
            </a:r>
            <a:r>
              <a:rPr lang="en-US" sz="316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Online Delivery, Table Booking.</a:t>
            </a:r>
          </a:p>
          <a:p>
            <a:pPr algn="just" marL="683130" indent="-341565" lvl="1">
              <a:lnSpc>
                <a:spcPts val="4429"/>
              </a:lnSpc>
              <a:buFont typeface="Arial"/>
              <a:buChar char="•"/>
            </a:pPr>
            <a:r>
              <a:rPr lang="en-US" b="true" sz="3164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Customer Engagement Metrics:</a:t>
            </a:r>
            <a:r>
              <a:rPr lang="en-US" sz="316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Aggregate Ratings, Number of Votes.</a:t>
            </a:r>
          </a:p>
          <a:p>
            <a:pPr algn="just" marL="683130" indent="-341565" lvl="1">
              <a:lnSpc>
                <a:spcPts val="4429"/>
              </a:lnSpc>
              <a:buFont typeface="Arial"/>
              <a:buChar char="•"/>
            </a:pPr>
            <a:r>
              <a:rPr lang="en-US" b="true" sz="3164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Data Preprocessing :</a:t>
            </a:r>
          </a:p>
          <a:p>
            <a:pPr algn="just" marL="683130" indent="-341565" lvl="1">
              <a:lnSpc>
                <a:spcPts val="4429"/>
              </a:lnSpc>
              <a:buFont typeface="Arial"/>
              <a:buChar char="•"/>
            </a:pPr>
            <a:r>
              <a:rPr lang="en-US" sz="316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Handled missing/invalid data (e.g., coordinates, currency conversion to INR).</a:t>
            </a:r>
          </a:p>
          <a:p>
            <a:pPr algn="just" marL="683130" indent="-341565" lvl="1">
              <a:lnSpc>
                <a:spcPts val="4429"/>
              </a:lnSpc>
              <a:buFont typeface="Arial"/>
              <a:buChar char="•"/>
            </a:pPr>
            <a:r>
              <a:rPr lang="en-US" sz="316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Standardized city/country names for consistency.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09372" y="8223707"/>
            <a:ext cx="15948217" cy="1714433"/>
          </a:xfrm>
          <a:custGeom>
            <a:avLst/>
            <a:gdLst/>
            <a:ahLst/>
            <a:cxnLst/>
            <a:rect r="r" b="b" t="t" l="l"/>
            <a:pathLst>
              <a:path h="1714433" w="15948217">
                <a:moveTo>
                  <a:pt x="0" y="0"/>
                </a:moveTo>
                <a:lnTo>
                  <a:pt x="15948216" y="0"/>
                </a:lnTo>
                <a:lnTo>
                  <a:pt x="15948216" y="1714433"/>
                </a:lnTo>
                <a:lnTo>
                  <a:pt x="0" y="1714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76559" y="333375"/>
            <a:ext cx="14408795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 spc="-516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REQUIREMENTS &amp; UNDERSTANDING</a:t>
            </a:r>
          </a:p>
        </p:txBody>
      </p:sp>
    </p:spTree>
  </p:cSld>
  <p:clrMapOvr>
    <a:masterClrMapping/>
  </p:clrMapOvr>
  <p:transition spd="slow">
    <p:push dir="r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6825" y="2009989"/>
            <a:ext cx="12846966" cy="72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0484" indent="-365242" lvl="1">
              <a:lnSpc>
                <a:spcPts val="4736"/>
              </a:lnSpc>
              <a:buAutoNum type="arabicPeriod" startAt="1"/>
            </a:pPr>
            <a:r>
              <a:rPr lang="en-US" b="true" sz="3383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Exploratory Data Analysis (EDA):</a:t>
            </a:r>
            <a:r>
              <a:rPr lang="en-US" sz="338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Used Pivot Tables and functions (Vlookup, Countifs, Average, Conditional Formatting) to identify basic trends.</a:t>
            </a:r>
          </a:p>
          <a:p>
            <a:pPr algn="l" marL="730484" indent="-365242" lvl="1">
              <a:lnSpc>
                <a:spcPts val="4736"/>
              </a:lnSpc>
              <a:buAutoNum type="arabicPeriod" startAt="1"/>
            </a:pPr>
            <a:r>
              <a:rPr lang="en-US" b="true" sz="3383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Comparative Analysis:</a:t>
            </a:r>
            <a:r>
              <a:rPr lang="en-US" sz="338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Benchmarked countries, cuisines, and services against key metrics (ratings, cost, votes).</a:t>
            </a:r>
          </a:p>
          <a:p>
            <a:pPr algn="l" marL="730484" indent="-365242" lvl="1">
              <a:lnSpc>
                <a:spcPts val="4736"/>
              </a:lnSpc>
              <a:buAutoNum type="arabicPeriod" startAt="1"/>
            </a:pPr>
            <a:r>
              <a:rPr lang="en-US" b="true" sz="3383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Gap Analysis:</a:t>
            </a:r>
            <a:r>
              <a:rPr lang="en-US" sz="338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Identified disparities between high-performing </a:t>
            </a:r>
          </a:p>
          <a:p>
            <a:pPr algn="l">
              <a:lnSpc>
                <a:spcPts val="4736"/>
              </a:lnSpc>
            </a:pPr>
            <a:r>
              <a:rPr lang="en-US" sz="338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</a:t>
            </a:r>
            <a:r>
              <a:rPr lang="en-US" sz="338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and low-performing markets/features.</a:t>
            </a:r>
          </a:p>
          <a:p>
            <a:pPr algn="l" marL="1460968" indent="-486989" lvl="2">
              <a:lnSpc>
                <a:spcPts val="4736"/>
              </a:lnSpc>
              <a:buAutoNum type="alphaLcPeriod" startAt="1"/>
            </a:pPr>
            <a:r>
              <a:rPr lang="en-US" sz="338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Example Gap: "High-rated cuisines like Sushi are under-represented in low-competition markets."</a:t>
            </a:r>
          </a:p>
          <a:p>
            <a:pPr algn="l" marL="730484" indent="-365242" lvl="1">
              <a:lnSpc>
                <a:spcPts val="4736"/>
              </a:lnSpc>
              <a:buAutoNum type="arabicPeriod" startAt="1"/>
            </a:pPr>
            <a:r>
              <a:rPr lang="en-US" b="true" sz="3383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SWOT Analysis :</a:t>
            </a:r>
            <a:r>
              <a:rPr lang="en-US" sz="338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Structured findings into Strengths, </a:t>
            </a:r>
          </a:p>
          <a:p>
            <a:pPr algn="l">
              <a:lnSpc>
                <a:spcPts val="4736"/>
              </a:lnSpc>
            </a:pPr>
            <a:r>
              <a:rPr lang="en-US" sz="338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</a:t>
            </a:r>
            <a:r>
              <a:rPr lang="en-US" sz="338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Weaknesses, Opportunities, and Threats.</a:t>
            </a:r>
          </a:p>
          <a:p>
            <a:pPr algn="l">
              <a:lnSpc>
                <a:spcPts val="4736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822202" y="4406991"/>
            <a:ext cx="5465798" cy="6296614"/>
          </a:xfrm>
          <a:custGeom>
            <a:avLst/>
            <a:gdLst/>
            <a:ahLst/>
            <a:cxnLst/>
            <a:rect r="r" b="b" t="t" l="l"/>
            <a:pathLst>
              <a:path h="6296614" w="5465798">
                <a:moveTo>
                  <a:pt x="0" y="0"/>
                </a:moveTo>
                <a:lnTo>
                  <a:pt x="5465798" y="0"/>
                </a:lnTo>
                <a:lnTo>
                  <a:pt x="5465798" y="6296614"/>
                </a:lnTo>
                <a:lnTo>
                  <a:pt x="0" y="6296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99" t="0" r="-139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4350" y="504825"/>
            <a:ext cx="1725930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 spc="-645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METHODOLOGY</a:t>
            </a:r>
          </a:p>
        </p:txBody>
      </p:sp>
    </p:spTree>
  </p:cSld>
  <p:clrMapOvr>
    <a:masterClrMapping/>
  </p:clrMapOvr>
  <p:transition spd="slow">
    <p:push dir="r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266747" y="151448"/>
            <a:ext cx="10527030" cy="10354438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-514828" y="-547170"/>
            <a:ext cx="9318202" cy="11423253"/>
            <a:chOff x="0" y="0"/>
            <a:chExt cx="2454177" cy="3008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54177" cy="3008593"/>
            </a:xfrm>
            <a:custGeom>
              <a:avLst/>
              <a:gdLst/>
              <a:ahLst/>
              <a:cxnLst/>
              <a:rect r="r" b="b" t="t" l="l"/>
              <a:pathLst>
                <a:path h="3008593" w="2454177">
                  <a:moveTo>
                    <a:pt x="0" y="0"/>
                  </a:moveTo>
                  <a:lnTo>
                    <a:pt x="2454177" y="0"/>
                  </a:lnTo>
                  <a:lnTo>
                    <a:pt x="2454177" y="3008593"/>
                  </a:lnTo>
                  <a:lnTo>
                    <a:pt x="0" y="3008593"/>
                  </a:lnTo>
                  <a:close/>
                </a:path>
              </a:pathLst>
            </a:custGeom>
            <a:solidFill>
              <a:srgbClr val="8D020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454177" cy="3084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63691" y="907684"/>
            <a:ext cx="7143211" cy="158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b="true" sz="6470" spc="-556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GEOGRAPHIC MARKET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207" y="2738921"/>
            <a:ext cx="7958180" cy="711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857" b="true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FINDINGS: </a:t>
            </a:r>
          </a:p>
          <a:p>
            <a:pPr algn="l" marL="616933" indent="-308467" lvl="1">
              <a:lnSpc>
                <a:spcPts val="4000"/>
              </a:lnSpc>
              <a:buFont typeface="Arial"/>
              <a:buChar char="•"/>
            </a:pPr>
            <a:r>
              <a:rPr lang="en-US" sz="2857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Not all markets are equal. We can prioritize expansion based on data.</a:t>
            </a:r>
          </a:p>
          <a:p>
            <a:pPr algn="l">
              <a:lnSpc>
                <a:spcPts val="4000"/>
              </a:lnSpc>
            </a:pPr>
            <a:r>
              <a:rPr lang="en-US" sz="2857" b="true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RECOMMENDATIONS:</a:t>
            </a:r>
          </a:p>
          <a:p>
            <a:pPr algn="l" marL="616933" indent="-308467" lvl="1">
              <a:lnSpc>
                <a:spcPts val="4000"/>
              </a:lnSpc>
              <a:buFont typeface="Arial"/>
              <a:buChar char="•"/>
            </a:pPr>
            <a:r>
              <a:rPr lang="en-US" b="true" sz="2857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Opportunity:</a:t>
            </a:r>
            <a:r>
              <a:rPr lang="en-US" sz="2857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Enter the Philippines and Indonesia (High Ratings, indicating strong customer satisfaction).</a:t>
            </a:r>
          </a:p>
          <a:p>
            <a:pPr algn="l" marL="616933" indent="-308467" lvl="1">
              <a:lnSpc>
                <a:spcPts val="4000"/>
              </a:lnSpc>
              <a:buFont typeface="Arial"/>
              <a:buChar char="•"/>
            </a:pPr>
            <a:r>
              <a:rPr lang="en-US" b="true" sz="2857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Strategic Move:</a:t>
            </a:r>
            <a:r>
              <a:rPr lang="en-US" sz="2857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Target Sri Lanka (Lowest competition, significant scope for improvement and market capture).</a:t>
            </a:r>
          </a:p>
          <a:p>
            <a:pPr algn="l" marL="616933" indent="-308467" lvl="1">
              <a:lnSpc>
                <a:spcPts val="4000"/>
              </a:lnSpc>
              <a:buFont typeface="Arial"/>
              <a:buChar char="•"/>
            </a:pPr>
            <a:r>
              <a:rPr lang="en-US" sz="2857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Turkey and New Zealand (Growth potential, moderate competition good customer satisfaction).</a:t>
            </a:r>
          </a:p>
          <a:p>
            <a:pPr algn="l">
              <a:lnSpc>
                <a:spcPts val="4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970768" y="375768"/>
            <a:ext cx="10664190" cy="102049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-514828" y="-547170"/>
            <a:ext cx="8632402" cy="11423253"/>
            <a:chOff x="0" y="0"/>
            <a:chExt cx="2273554" cy="3008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73554" cy="3008593"/>
            </a:xfrm>
            <a:custGeom>
              <a:avLst/>
              <a:gdLst/>
              <a:ahLst/>
              <a:cxnLst/>
              <a:rect r="r" b="b" t="t" l="l"/>
              <a:pathLst>
                <a:path h="3008593" w="2273554">
                  <a:moveTo>
                    <a:pt x="0" y="0"/>
                  </a:moveTo>
                  <a:lnTo>
                    <a:pt x="2273554" y="0"/>
                  </a:lnTo>
                  <a:lnTo>
                    <a:pt x="2273554" y="3008593"/>
                  </a:lnTo>
                  <a:lnTo>
                    <a:pt x="0" y="3008593"/>
                  </a:lnTo>
                  <a:close/>
                </a:path>
              </a:pathLst>
            </a:custGeom>
            <a:solidFill>
              <a:srgbClr val="8D020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273554" cy="3084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95886" y="1485033"/>
            <a:ext cx="6264195" cy="26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5"/>
              </a:lnSpc>
            </a:pPr>
            <a:r>
              <a:rPr lang="en-US" b="true" sz="6310" spc="-542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RECOMMENDED CITIES</a:t>
            </a:r>
          </a:p>
          <a:p>
            <a:pPr algn="ctr">
              <a:lnSpc>
                <a:spcPts val="662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01902" y="3775440"/>
            <a:ext cx="6158179" cy="429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8487" indent="-324244" lvl="1">
              <a:lnSpc>
                <a:spcPts val="4205"/>
              </a:lnSpc>
              <a:buFont typeface="Arial"/>
              <a:buChar char="•"/>
            </a:pPr>
            <a:r>
              <a:rPr lang="en-US" b="true" sz="3003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Indonesia:Jakarta, Tangerang.</a:t>
            </a:r>
          </a:p>
          <a:p>
            <a:pPr algn="l" marL="648487" indent="-324244" lvl="1">
              <a:lnSpc>
                <a:spcPts val="4205"/>
              </a:lnSpc>
              <a:buFont typeface="Arial"/>
              <a:buChar char="•"/>
            </a:pPr>
            <a:r>
              <a:rPr lang="en-US" b="true" sz="3003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NewZealand:Auckland, Wellington.</a:t>
            </a:r>
          </a:p>
          <a:p>
            <a:pPr algn="l" marL="648487" indent="-324244" lvl="1">
              <a:lnSpc>
                <a:spcPts val="4205"/>
              </a:lnSpc>
              <a:buFont typeface="Arial"/>
              <a:buChar char="•"/>
            </a:pPr>
            <a:r>
              <a:rPr lang="en-US" b="true" sz="3003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Philippines:QuezonCity, Makati City.</a:t>
            </a:r>
          </a:p>
          <a:p>
            <a:pPr algn="l" marL="648487" indent="-324244" lvl="1">
              <a:lnSpc>
                <a:spcPts val="4205"/>
              </a:lnSpc>
              <a:buFont typeface="Arial"/>
              <a:buChar char="•"/>
            </a:pPr>
            <a:r>
              <a:rPr lang="en-US" b="true" sz="3003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Sri Lanka: Colombo.</a:t>
            </a:r>
          </a:p>
          <a:p>
            <a:pPr algn="l" marL="648487" indent="-324244" lvl="1">
              <a:lnSpc>
                <a:spcPts val="4205"/>
              </a:lnSpc>
              <a:buFont typeface="Arial"/>
              <a:buChar char="•"/>
            </a:pPr>
            <a:r>
              <a:rPr lang="en-US" b="true" sz="3003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Turkey: Ankara, Istanbul.</a:t>
            </a:r>
          </a:p>
          <a:p>
            <a:pPr algn="l">
              <a:lnSpc>
                <a:spcPts val="420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001536" y="828859"/>
            <a:ext cx="9359102" cy="779332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-514828" y="-547170"/>
            <a:ext cx="9658828" cy="11423253"/>
            <a:chOff x="0" y="0"/>
            <a:chExt cx="2543889" cy="3008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3889" cy="3008593"/>
            </a:xfrm>
            <a:custGeom>
              <a:avLst/>
              <a:gdLst/>
              <a:ahLst/>
              <a:cxnLst/>
              <a:rect r="r" b="b" t="t" l="l"/>
              <a:pathLst>
                <a:path h="3008593" w="2543889">
                  <a:moveTo>
                    <a:pt x="0" y="0"/>
                  </a:moveTo>
                  <a:lnTo>
                    <a:pt x="2543889" y="0"/>
                  </a:lnTo>
                  <a:lnTo>
                    <a:pt x="2543889" y="3008593"/>
                  </a:lnTo>
                  <a:lnTo>
                    <a:pt x="0" y="3008593"/>
                  </a:lnTo>
                  <a:close/>
                </a:path>
              </a:pathLst>
            </a:custGeom>
            <a:solidFill>
              <a:srgbClr val="8D020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543889" cy="3084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62282" y="990600"/>
            <a:ext cx="8358816" cy="170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1"/>
              </a:lnSpc>
            </a:pPr>
            <a:r>
              <a:rPr lang="en-US" b="true" sz="5839" spc="-502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GROWTH TRENDS &amp; MARKET EVOLUTION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4716" y="3075089"/>
            <a:ext cx="8157331" cy="549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1. Diagnose Peaks &amp; Troughs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Investigate root causes for 2018 success and 2016 decline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Learn from both high and low performance periods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 Recognize Market Volatility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Fluctuations indicate external sensitivity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Prepare for unpredictable market shifts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3. Identify Strategic Pivots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2018 rebound signals successful strategy change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Document what worked for future planning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828" y="-547170"/>
            <a:ext cx="9018304" cy="11423253"/>
            <a:chOff x="0" y="0"/>
            <a:chExt cx="2375191" cy="3008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5191" cy="3008593"/>
            </a:xfrm>
            <a:custGeom>
              <a:avLst/>
              <a:gdLst/>
              <a:ahLst/>
              <a:cxnLst/>
              <a:rect r="r" b="b" t="t" l="l"/>
              <a:pathLst>
                <a:path h="3008593" w="2375191">
                  <a:moveTo>
                    <a:pt x="0" y="0"/>
                  </a:moveTo>
                  <a:lnTo>
                    <a:pt x="2375191" y="0"/>
                  </a:lnTo>
                  <a:lnTo>
                    <a:pt x="2375191" y="3008593"/>
                  </a:lnTo>
                  <a:lnTo>
                    <a:pt x="0" y="3008593"/>
                  </a:lnTo>
                  <a:close/>
                </a:path>
              </a:pathLst>
            </a:custGeom>
            <a:solidFill>
              <a:srgbClr val="8D020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375191" cy="3084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349614" y="4473606"/>
            <a:ext cx="8038727" cy="5852629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349614" y="-84531"/>
            <a:ext cx="8038727" cy="5065514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850996" y="990600"/>
            <a:ext cx="5254633" cy="170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1"/>
              </a:lnSpc>
            </a:pPr>
            <a:r>
              <a:rPr lang="en-US" b="true" sz="5839" spc="-502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SERVICE QUALITY GAP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279148"/>
            <a:ext cx="7152971" cy="5089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1"/>
              </a:lnSpc>
            </a:pPr>
            <a:r>
              <a:rPr lang="en-US" sz="2887" spc="-121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FINDINGS</a:t>
            </a:r>
            <a:r>
              <a:rPr lang="en-US" b="true" sz="2887" spc="-12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 </a:t>
            </a:r>
          </a:p>
          <a:p>
            <a:pPr algn="l">
              <a:lnSpc>
                <a:spcPts val="4041"/>
              </a:lnSpc>
            </a:pPr>
            <a:r>
              <a:rPr lang="en-US" b="true" sz="2887" spc="-12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Core platform services significantly impact      customer satisfaction.</a:t>
            </a:r>
          </a:p>
          <a:p>
            <a:pPr algn="l">
              <a:lnSpc>
                <a:spcPts val="4041"/>
              </a:lnSpc>
            </a:pPr>
            <a:r>
              <a:rPr lang="en-US" b="true" sz="2887" spc="-12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RECOMMENDATIONS</a:t>
            </a:r>
          </a:p>
          <a:p>
            <a:pPr algn="l" marL="623316" indent="-311658" lvl="1">
              <a:lnSpc>
                <a:spcPts val="4041"/>
              </a:lnSpc>
              <a:buFont typeface="Arial"/>
              <a:buChar char="•"/>
            </a:pPr>
            <a:r>
              <a:rPr lang="en-US" b="true" sz="2887" spc="-12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Gap Identified: </a:t>
            </a:r>
          </a:p>
          <a:p>
            <a:pPr algn="l">
              <a:lnSpc>
                <a:spcPts val="4041"/>
              </a:lnSpc>
            </a:pPr>
            <a:r>
              <a:rPr lang="en-US" b="true" sz="2887" spc="-12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Restaurants without these features have lower ratings.</a:t>
            </a:r>
          </a:p>
          <a:p>
            <a:pPr algn="l" marL="623316" indent="-311658" lvl="1">
              <a:lnSpc>
                <a:spcPts val="4041"/>
              </a:lnSpc>
              <a:buFont typeface="Arial"/>
              <a:buChar char="•"/>
            </a:pPr>
            <a:r>
              <a:rPr lang="en-US" b="true" sz="2887" spc="-12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Business Requirement: </a:t>
            </a:r>
          </a:p>
          <a:p>
            <a:pPr algn="l">
              <a:lnSpc>
                <a:spcPts val="4041"/>
              </a:lnSpc>
            </a:pPr>
            <a:r>
              <a:rPr lang="en-US" b="true" sz="2887" spc="-12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Incentivize and onboard more restaurants to offer Online Delivery and Table Booking.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685117" y="715269"/>
            <a:ext cx="10099314" cy="8898376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-514828" y="-547170"/>
            <a:ext cx="9658828" cy="11423253"/>
            <a:chOff x="0" y="0"/>
            <a:chExt cx="2543889" cy="3008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3889" cy="3008593"/>
            </a:xfrm>
            <a:custGeom>
              <a:avLst/>
              <a:gdLst/>
              <a:ahLst/>
              <a:cxnLst/>
              <a:rect r="r" b="b" t="t" l="l"/>
              <a:pathLst>
                <a:path h="3008593" w="2543889">
                  <a:moveTo>
                    <a:pt x="0" y="0"/>
                  </a:moveTo>
                  <a:lnTo>
                    <a:pt x="2543889" y="0"/>
                  </a:lnTo>
                  <a:lnTo>
                    <a:pt x="2543889" y="3008593"/>
                  </a:lnTo>
                  <a:lnTo>
                    <a:pt x="0" y="3008593"/>
                  </a:lnTo>
                  <a:close/>
                </a:path>
              </a:pathLst>
            </a:custGeom>
            <a:solidFill>
              <a:srgbClr val="8D020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543889" cy="3084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00909" y="1000125"/>
            <a:ext cx="8375339" cy="248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5"/>
              </a:lnSpc>
            </a:pPr>
            <a:r>
              <a:rPr lang="en-US" b="true" sz="5910" spc="-508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FOOD  EXPENDITURE ANALYSIS  BY COUNTRY</a:t>
            </a:r>
          </a:p>
          <a:p>
            <a:pPr algn="ctr">
              <a:lnSpc>
                <a:spcPts val="620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29304" y="3009034"/>
            <a:ext cx="8118549" cy="648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FINDINGS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b="true" sz="2799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Clear price tiers: Budget (Turkey), Mid-Range (Indonesia), Premium (Philippines).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b="true" sz="2799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High cost ≠ high rating: Singapore is most expensive but not highest rated.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RECOMMENDATIONS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b="true" sz="2799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Segment market entry strategy for each price tier.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b="true" sz="2799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Compete on quality in premium markets, value in budget markets.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b="true" sz="2799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Create tiered partnership models with flexible commission rates.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043447" y="917144"/>
            <a:ext cx="9329608" cy="9118624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-514828" y="-547170"/>
            <a:ext cx="9158193" cy="11423253"/>
            <a:chOff x="0" y="0"/>
            <a:chExt cx="2412034" cy="3008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12034" cy="3008593"/>
            </a:xfrm>
            <a:custGeom>
              <a:avLst/>
              <a:gdLst/>
              <a:ahLst/>
              <a:cxnLst/>
              <a:rect r="r" b="b" t="t" l="l"/>
              <a:pathLst>
                <a:path h="3008593" w="2412034">
                  <a:moveTo>
                    <a:pt x="0" y="0"/>
                  </a:moveTo>
                  <a:lnTo>
                    <a:pt x="2412034" y="0"/>
                  </a:lnTo>
                  <a:lnTo>
                    <a:pt x="2412034" y="3008593"/>
                  </a:lnTo>
                  <a:lnTo>
                    <a:pt x="0" y="3008593"/>
                  </a:lnTo>
                  <a:close/>
                </a:path>
              </a:pathLst>
            </a:custGeom>
            <a:solidFill>
              <a:srgbClr val="8D020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412034" cy="3084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37652" y="990600"/>
            <a:ext cx="7174381" cy="99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5"/>
              </a:lnSpc>
            </a:pPr>
            <a:r>
              <a:rPr lang="en-US" b="true" sz="6310" spc="-542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CUISINE STRATEGY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3002" y="2336461"/>
            <a:ext cx="7239031" cy="697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FINDINGS: </a:t>
            </a: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Cuisine type is a major driver of customer ratings.</a:t>
            </a: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RECOMMENDATIONS: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Opportunity: Promote high-rated cuisines (Seafood, Desserts) on the platform's homepage and campaigns.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Risk Mitigation: Investigate why popular cuisines like North Indian and Chinese have low ratings (e.g., quality control, delivery time).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Action: Work with restaurant partners to create "Quality Guidelines" for underperforming cuisines.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36033"/>
            <a:ext cx="18288000" cy="9414933"/>
          </a:xfrm>
          <a:custGeom>
            <a:avLst/>
            <a:gdLst/>
            <a:ahLst/>
            <a:cxnLst/>
            <a:rect r="r" b="b" t="t" l="l"/>
            <a:pathLst>
              <a:path h="9414933" w="18288000">
                <a:moveTo>
                  <a:pt x="0" y="0"/>
                </a:moveTo>
                <a:lnTo>
                  <a:pt x="18288000" y="0"/>
                </a:lnTo>
                <a:lnTo>
                  <a:pt x="18288000" y="9414934"/>
                </a:lnTo>
                <a:lnTo>
                  <a:pt x="0" y="9414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8D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2339" y="1308729"/>
            <a:ext cx="15526961" cy="9199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2"/>
              </a:lnSpc>
            </a:pPr>
          </a:p>
          <a:p>
            <a:pPr algn="l">
              <a:lnSpc>
                <a:spcPts val="4822"/>
              </a:lnSpc>
            </a:pPr>
            <a:r>
              <a:rPr lang="en-US" sz="3444" spc="-68" b="true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S:</a:t>
            </a:r>
            <a:r>
              <a:rPr lang="en-US" sz="3444" spc="-68" b="true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Strengths:</a:t>
            </a:r>
          </a:p>
          <a:p>
            <a:pPr algn="l" marL="743775" indent="-371887" lvl="1">
              <a:lnSpc>
                <a:spcPts val="4822"/>
              </a:lnSpc>
              <a:buFont typeface="Arial"/>
              <a:buChar char="•"/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Strong market presence in India.</a:t>
            </a:r>
          </a:p>
          <a:p>
            <a:pPr algn="l" marL="743775" indent="-371887" lvl="1">
              <a:lnSpc>
                <a:spcPts val="4822"/>
              </a:lnSpc>
              <a:buFont typeface="Arial"/>
              <a:buChar char="•"/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customer engagement in key markets (Indonesia, UAE).</a:t>
            </a:r>
          </a:p>
          <a:p>
            <a:pPr algn="l">
              <a:lnSpc>
                <a:spcPts val="4822"/>
              </a:lnSpc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W:</a:t>
            </a:r>
            <a:r>
              <a:rPr lang="en-US" sz="3444" spc="-68" b="true">
                <a:solidFill>
                  <a:srgbClr val="161616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 Weaknesses:</a:t>
            </a:r>
          </a:p>
          <a:p>
            <a:pPr algn="l" marL="743775" indent="-371887" lvl="1">
              <a:lnSpc>
                <a:spcPts val="4822"/>
              </a:lnSpc>
              <a:buFont typeface="Arial"/>
              <a:buChar char="•"/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Missing key services (table booking, delivery) in many restaurants</a:t>
            </a:r>
          </a:p>
          <a:p>
            <a:pPr algn="l" marL="743775" indent="-371887" lvl="1">
              <a:lnSpc>
                <a:spcPts val="4822"/>
              </a:lnSpc>
              <a:buFont typeface="Arial"/>
              <a:buChar char="•"/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Low-rated popular cuisines (North Indian, Chinese) risk brand perception.</a:t>
            </a:r>
          </a:p>
          <a:p>
            <a:pPr algn="l">
              <a:lnSpc>
                <a:spcPts val="4822"/>
              </a:lnSpc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O:</a:t>
            </a:r>
            <a:r>
              <a:rPr lang="en-US" sz="3444" spc="-68" b="true">
                <a:solidFill>
                  <a:srgbClr val="161616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 Opportunities:</a:t>
            </a:r>
          </a:p>
          <a:p>
            <a:pPr algn="l" marL="743775" indent="-371887" lvl="1">
              <a:lnSpc>
                <a:spcPts val="4822"/>
              </a:lnSpc>
              <a:buFont typeface="Arial"/>
              <a:buChar char="•"/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Expand into high-satisfaction, low-competition markets (Philippines, Sri Lanka).</a:t>
            </a:r>
          </a:p>
          <a:p>
            <a:pPr algn="l" marL="743775" indent="-371887" lvl="1">
              <a:lnSpc>
                <a:spcPts val="4822"/>
              </a:lnSpc>
              <a:buFont typeface="Arial"/>
              <a:buChar char="•"/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Promote high-rated, affordable cuisines to improve value perception.</a:t>
            </a:r>
          </a:p>
          <a:p>
            <a:pPr algn="l">
              <a:lnSpc>
                <a:spcPts val="4822"/>
              </a:lnSpc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T: Threats:</a:t>
            </a:r>
          </a:p>
          <a:p>
            <a:pPr algn="l" marL="743775" indent="-371887" lvl="1">
              <a:lnSpc>
                <a:spcPts val="4822"/>
              </a:lnSpc>
              <a:buFont typeface="Arial"/>
              <a:buChar char="•"/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Competitors capturing market share in emerging countries.</a:t>
            </a:r>
          </a:p>
          <a:p>
            <a:pPr algn="l" marL="743775" indent="-371887" lvl="1">
              <a:lnSpc>
                <a:spcPts val="4822"/>
              </a:lnSpc>
              <a:buFont typeface="Arial"/>
              <a:buChar char="•"/>
            </a:pPr>
            <a:r>
              <a:rPr lang="en-US" sz="3444" spc="-68">
                <a:solidFill>
                  <a:srgbClr val="16161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Inconsistent customer experience due to service and cuisine quality gaps.</a:t>
            </a:r>
          </a:p>
          <a:p>
            <a:pPr algn="l">
              <a:lnSpc>
                <a:spcPts val="4822"/>
              </a:lnSpc>
            </a:pPr>
          </a:p>
          <a:p>
            <a:pPr algn="l">
              <a:lnSpc>
                <a:spcPts val="482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-280392" y="583630"/>
            <a:ext cx="17539692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 spc="-516">
                <a:solidFill>
                  <a:srgbClr val="16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SWOT ANALYSIS  SUMMARY</a:t>
            </a:r>
          </a:p>
        </p:txBody>
      </p:sp>
    </p:spTree>
  </p:cSld>
  <p:clrMapOvr>
    <a:masterClrMapping/>
  </p:clrMapOvr>
  <p:transition spd="slow">
    <p:push dir="r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60191"/>
            <a:ext cx="13028463" cy="669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375"/>
              </a:lnSpc>
              <a:buAutoNum type="arabicPeriod" startAt="1"/>
            </a:pPr>
            <a:r>
              <a:rPr lang="en-US" b="true" sz="3500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Market Expansion: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Prioritize entry into </a:t>
            </a:r>
            <a:r>
              <a:rPr lang="en-US" b="true" sz="3500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Philippines, Indonesia, and Sri Lanka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  <a:p>
            <a:pPr algn="just" marL="755651" indent="-377825" lvl="1">
              <a:lnSpc>
                <a:spcPts val="4375"/>
              </a:lnSpc>
              <a:buAutoNum type="arabicPeriod" startAt="1"/>
            </a:pPr>
            <a:r>
              <a:rPr lang="en-US" b="true" sz="3500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Service Enhancement: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Launch a project to increase </a:t>
            </a:r>
            <a:r>
              <a:rPr lang="en-US" b="true" sz="3500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Online Delivery and Table Booking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adoption among partner restaurants.</a:t>
            </a:r>
          </a:p>
          <a:p>
            <a:pPr algn="just" marL="755651" indent="-377825" lvl="1">
              <a:lnSpc>
                <a:spcPts val="4375"/>
              </a:lnSpc>
              <a:buAutoNum type="arabicPeriod" startAt="1"/>
            </a:pPr>
            <a:r>
              <a:rPr lang="en-US" b="true" sz="3500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Cuisine Strategy: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Curate and promote </a:t>
            </a:r>
            <a:r>
              <a:rPr lang="en-US" b="true" sz="3500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high-rated cuisines (Seafood, Desserts)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and investigate quality issues with </a:t>
            </a:r>
            <a:r>
              <a:rPr lang="en-US" b="true" sz="3500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low-rated cuisines (North Indian)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  <a:p>
            <a:pPr algn="just" marL="755651" indent="-377825" lvl="1">
              <a:lnSpc>
                <a:spcPts val="4375"/>
              </a:lnSpc>
              <a:buAutoNum type="arabicPeriod" startAt="1"/>
            </a:pPr>
            <a:r>
              <a:rPr lang="en-US" b="true" sz="3500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Pricing Leverage: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Since price and rating correlation is weak (0.238), focus marketing on </a:t>
            </a:r>
            <a:r>
              <a:rPr lang="en-US" b="true" sz="3500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"Quality at the Right Price"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rather than competing on cost alone.</a:t>
            </a:r>
          </a:p>
          <a:p>
            <a:pPr algn="just">
              <a:lnSpc>
                <a:spcPts val="4375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820705" y="4687961"/>
            <a:ext cx="3467295" cy="5599039"/>
          </a:xfrm>
          <a:custGeom>
            <a:avLst/>
            <a:gdLst/>
            <a:ahLst/>
            <a:cxnLst/>
            <a:rect r="r" b="b" t="t" l="l"/>
            <a:pathLst>
              <a:path h="5599039" w="3467295">
                <a:moveTo>
                  <a:pt x="0" y="0"/>
                </a:moveTo>
                <a:lnTo>
                  <a:pt x="3467295" y="0"/>
                </a:lnTo>
                <a:lnTo>
                  <a:pt x="3467295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29162" y="950925"/>
            <a:ext cx="8914954" cy="146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1"/>
              </a:lnSpc>
              <a:spcBef>
                <a:spcPct val="0"/>
              </a:spcBef>
            </a:pPr>
            <a:r>
              <a:rPr lang="en-US" b="true" sz="7672" spc="-65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RECOMMENDATION</a:t>
            </a:r>
          </a:p>
        </p:txBody>
      </p:sp>
    </p:spTree>
  </p:cSld>
  <p:clrMapOvr>
    <a:masterClrMapping/>
  </p:clrMapOvr>
  <p:transition spd="slow">
    <p:push dir="r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64765"/>
            <a:ext cx="14251826" cy="724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375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Conclusion: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This analysis provides a clear, data-driven roadmap for Zomato to drive growth and improve customer satisfaction by focusing on specific markets, services, and culinary offerings.</a:t>
            </a:r>
          </a:p>
          <a:p>
            <a:pPr algn="just" marL="755651" indent="-377825" lvl="1">
              <a:lnSpc>
                <a:spcPts val="4375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Next Steps :</a:t>
            </a:r>
          </a:p>
          <a:p>
            <a:pPr algn="just" marL="1511301" indent="-503767" lvl="2">
              <a:lnSpc>
                <a:spcPts val="4375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Monitor KPIs post-implementation to measure business impact and inform iterative improvements.</a:t>
            </a:r>
          </a:p>
          <a:p>
            <a:pPr algn="just" marL="1511301" indent="-503767" lvl="2">
              <a:lnSpc>
                <a:spcPts val="4375"/>
              </a:lnSpc>
              <a:buFont typeface="Arial"/>
              <a:buChar char="⚬"/>
            </a:pPr>
            <a:r>
              <a:rPr lang="en-US" b="true" sz="3500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Documentation: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Create a detailed </a:t>
            </a:r>
            <a:r>
              <a:rPr lang="en-US" b="true" sz="3500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Business Requirements Document f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 the market expansion project.</a:t>
            </a:r>
          </a:p>
          <a:p>
            <a:pPr algn="just" marL="1511301" indent="-503767" lvl="2">
              <a:lnSpc>
                <a:spcPts val="4375"/>
              </a:lnSpc>
              <a:buFont typeface="Arial"/>
              <a:buChar char="⚬"/>
            </a:pPr>
            <a:r>
              <a:rPr lang="en-US" b="true" sz="3500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Collaboration: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Work with the Development team to define technical requirements for promoting services and cuisines on the app.</a:t>
            </a:r>
          </a:p>
          <a:p>
            <a:pPr algn="just">
              <a:lnSpc>
                <a:spcPts val="4375"/>
              </a:lnSpc>
            </a:pPr>
          </a:p>
          <a:p>
            <a:pPr algn="just">
              <a:lnSpc>
                <a:spcPts val="4375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668549" y="2985913"/>
            <a:ext cx="2263324" cy="5401799"/>
          </a:xfrm>
          <a:custGeom>
            <a:avLst/>
            <a:gdLst/>
            <a:ahLst/>
            <a:cxnLst/>
            <a:rect r="r" b="b" t="t" l="l"/>
            <a:pathLst>
              <a:path h="5401799" w="2263324">
                <a:moveTo>
                  <a:pt x="0" y="0"/>
                </a:moveTo>
                <a:lnTo>
                  <a:pt x="2263324" y="0"/>
                </a:lnTo>
                <a:lnTo>
                  <a:pt x="2263324" y="5401799"/>
                </a:lnTo>
                <a:lnTo>
                  <a:pt x="0" y="5401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06913" y="762000"/>
            <a:ext cx="12789064" cy="132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1"/>
              </a:lnSpc>
              <a:spcBef>
                <a:spcPct val="0"/>
              </a:spcBef>
            </a:pPr>
            <a:r>
              <a:rPr lang="en-US" b="true" sz="6972" spc="-5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 &amp; NEXT STEPS</a:t>
            </a:r>
          </a:p>
        </p:txBody>
      </p:sp>
    </p:spTree>
  </p:cSld>
  <p:clrMapOvr>
    <a:masterClrMapping/>
  </p:clrMapOvr>
  <p:transition spd="slow">
    <p:push dir="r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77026" y="1898880"/>
            <a:ext cx="8431358" cy="8388120"/>
          </a:xfrm>
          <a:custGeom>
            <a:avLst/>
            <a:gdLst/>
            <a:ahLst/>
            <a:cxnLst/>
            <a:rect r="r" b="b" t="t" l="l"/>
            <a:pathLst>
              <a:path h="8388120" w="8431358">
                <a:moveTo>
                  <a:pt x="0" y="0"/>
                </a:moveTo>
                <a:lnTo>
                  <a:pt x="8431358" y="0"/>
                </a:lnTo>
                <a:lnTo>
                  <a:pt x="8431358" y="8388120"/>
                </a:lnTo>
                <a:lnTo>
                  <a:pt x="0" y="8388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2321842"/>
            <a:ext cx="5385197" cy="477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59"/>
              </a:lnSpc>
            </a:pPr>
            <a:r>
              <a:rPr lang="en-US" b="true" sz="12971" spc="-1115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</a:t>
            </a:r>
          </a:p>
          <a:p>
            <a:pPr algn="ctr">
              <a:lnSpc>
                <a:spcPts val="18159"/>
              </a:lnSpc>
              <a:spcBef>
                <a:spcPct val="0"/>
              </a:spcBef>
            </a:pPr>
            <a:r>
              <a:rPr lang="en-US" b="true" sz="12971" spc="-1115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YOU</a:t>
            </a:r>
          </a:p>
        </p:txBody>
      </p:sp>
    </p:spTree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DAG0ZAfnTQ4</dc:identifier>
  <dcterms:modified xsi:type="dcterms:W3CDTF">2011-08-01T06:04:30Z</dcterms:modified>
  <cp:revision>1</cp:revision>
  <dc:title>Zomato Restaurant Analysis</dc:title>
</cp:coreProperties>
</file>